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0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99001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657600"/>
            <a:ext cx="3291840" cy="3291840"/>
          </a:xfrm>
          <a:prstGeom prst="ellipse">
            <a:avLst/>
          </a:prstGeom>
          <a:solidFill>
            <a:srgbClr val="99001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FRIESLAND · BONNET ROUGE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 Store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demande « BIG FIVE KPI » à l'application terrain + dashboards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d'implémentation — ce qui a été demandé, ce qui est en place,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9AE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par écran, et ce qui reste à arbitrer.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8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juillet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a été demandé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de référence « BIG FIVE KPI UPDATE » — un standard « Perfect Store » à mesurer sur chaque point de vente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EEF1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Store  =  </a:t>
            </a:r>
            <a:pPr algn="ctr" indent="0" marL="0">
              <a:buNone/>
            </a:pPr>
            <a:r>
              <a:rPr lang="en-US" sz="16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(OSA)</a:t>
            </a:r>
            <a:pPr algn="ctr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16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parfaite</a:t>
            </a:r>
            <a:pPr algn="ctr" indent="0" marL="0">
              <a:buNone/>
            </a:pPr>
            <a:r>
              <a:rPr lang="en-US" sz="1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16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effective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57200" y="1993392"/>
            <a:ext cx="8229600" cy="859536"/>
          </a:xfrm>
          <a:prstGeom prst="roundRect">
            <a:avLst>
              <a:gd name="adj" fmla="val 6383"/>
            </a:avLst>
          </a:prstGeom>
          <a:solidFill>
            <a:srgbClr val="FCF6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221992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0848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piliers mesurés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34440" y="2359152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= quantité minimale par SKU (pas juste la présence) · Visibilité = éléments PLV requis, intérieur + extérieur, selon le type de PDV · Promotion = respect de la promo en cours (optionnel)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57200" y="2980944"/>
            <a:ext cx="8229600" cy="859536"/>
          </a:xfrm>
          <a:prstGeom prst="roundRect">
            <a:avLst>
              <a:gd name="adj" fmla="val 6383"/>
            </a:avLst>
          </a:prstGeom>
          <a:solidFill>
            <a:srgbClr val="FCF6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3209544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07238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niveaux de magasin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34440" y="3346704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PDV est classé après visite : FLAGSHIP, VIP, CORE ou BASIC — selon des seuils de disponibilité, d'assortiment et de visibilité à 100 %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57200" y="3968496"/>
            <a:ext cx="8229600" cy="859536"/>
          </a:xfrm>
          <a:prstGeom prst="roundRect">
            <a:avLst>
              <a:gd name="adj" fmla="val 6383"/>
            </a:avLst>
          </a:prstGeom>
          <a:solidFill>
            <a:srgbClr val="FCF6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4197096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0599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référentiels métier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34440" y="4334256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territoires + 179 quartiers, distributeurs et leur mapping par territoire, 41 types de point de vente, poids de chaque SKU (« Contribution '25 »), standards par format (Boutique, Superette, Kiosque, Aboki…)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ça a été mis en place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complète : la collecte terrain alimente un moteur de calcul, qui alimente les dashboards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79192" cy="320040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72768"/>
            <a:ext cx="475488" cy="47548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176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mobile collecte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5800" y="25054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merchandiser fait sa tournée : quantités par SKU, prix respectés, éléments de visibilité, concurrence, photos — le tout géolocalisé (geofence) et utilisable hors-ligne.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36976" y="1325880"/>
            <a:ext cx="2679192" cy="320040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65576" y="1572768"/>
            <a:ext cx="475488" cy="47548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3465576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65576" y="2176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calcule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465576" y="25054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visite enregistrée, la base calcule automatiquement : disponibilité pondérée (poids par SKU), assortiment, visibilité vs standard du format — puis attribue le niveau FLAGSHIP / VIP / CORE / BASIC.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16752" y="1325880"/>
            <a:ext cx="2679192" cy="320040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45352" y="1572768"/>
            <a:ext cx="475488" cy="475488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16" name="Text 14"/>
          <p:cNvSpPr/>
          <p:nvPr/>
        </p:nvSpPr>
        <p:spPr>
          <a:xfrm>
            <a:off x="6245352" y="1554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45352" y="2176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 pilote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245352" y="2505456"/>
            <a:ext cx="2240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: % de magasins parfaits, santé des piliers, classements par type de PDV, détail par visite, suivi temps réel des commerciaux. Paramètres modifiables sans développeur.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35808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815584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moteur de scoring — conforme au fichier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calculer_perfect_store() en base : recalcul automatique à chaque visite + recalcul d'historique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3429000"/>
          </a:xfrm>
          <a:prstGeom prst="roundRect">
            <a:avLst>
              <a:gd name="adj" fmla="val 1867"/>
            </a:avLst>
          </a:prstGeom>
          <a:solidFill>
            <a:srgbClr val="FCF6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71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moteur calcule par visite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pondérée (OSA) — chaque SKU compte selon son poids commercial (« Contribution '25 »), en quantité minimale selon le format et le grade du PDV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linéaire — part brute des SKU disponibles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Assortiment — 15/12/11 SKU cibles, minimum 10/8/5 présents, Hero SKU obligatoires</a:t>
            </a:r>
            <a:endParaRPr lang="en-US" sz="10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— éléments PLV requis présents vs standard du format (6 formats)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global + niveau atteint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4709160" y="12801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du niveau (seuils par défaut, modifiables dans l'admin)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645920"/>
          <a:ext cx="39776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097280"/>
                <a:gridCol w="960120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 pondérée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Assortiment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00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09160" y="3429000"/>
            <a:ext cx="3977640" cy="1234440"/>
          </a:xfrm>
          <a:prstGeom prst="roundRect">
            <a:avLst>
              <a:gd name="adj" fmla="val 4444"/>
            </a:avLst>
          </a:prstGeom>
          <a:solidFill>
            <a:srgbClr val="EEF1FA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Vérifié par tests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cas de référence du fichier (EVAP / Boutique A) reproduit exactement les scores attendus : 92 / 14 / 91. Parité entre le calcul SQL et le calcul TypeScript de l'app.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référentiels du fichier, chargés en 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master data de la feuille « BIG FIVE KPI » est seedé et administrable depuis l'écran Référentiels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84248" cy="1554480"/>
          </a:xfrm>
          <a:prstGeom prst="roundRect">
            <a:avLst>
              <a:gd name="adj" fmla="val 4118"/>
            </a:avLst>
          </a:prstGeom>
          <a:solidFill>
            <a:srgbClr val="FCF6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98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territoires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divisions · 4 sous-régions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42032" y="1280160"/>
            <a:ext cx="1984248" cy="1554480"/>
          </a:xfrm>
          <a:prstGeom prst="roundRect">
            <a:avLst>
              <a:gd name="adj" fmla="val 4118"/>
            </a:avLst>
          </a:prstGeom>
          <a:solidFill>
            <a:srgbClr val="FCF6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1371600"/>
            <a:ext cx="198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179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542032" y="210312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/ quartiers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42032" y="237744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distributeur affecté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280160"/>
            <a:ext cx="1984248" cy="1554480"/>
          </a:xfrm>
          <a:prstGeom prst="roundRect">
            <a:avLst>
              <a:gd name="adj" fmla="val 4118"/>
            </a:avLst>
          </a:prstGeom>
          <a:solidFill>
            <a:srgbClr val="FCF6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371600"/>
            <a:ext cx="198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26864" y="210312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distributeurs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26864" y="237744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+ MT « tous territoires »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11696" y="1280160"/>
            <a:ext cx="1984248" cy="1554480"/>
          </a:xfrm>
          <a:prstGeom prst="roundRect">
            <a:avLst>
              <a:gd name="adj" fmla="val 4118"/>
            </a:avLst>
          </a:prstGeom>
          <a:solidFill>
            <a:srgbClr val="FCF6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11696" y="1371600"/>
            <a:ext cx="1984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711696" y="210312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PDV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11696" y="237744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taxonomie Level 3 / Level 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310896" cy="310896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063240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de disponibilité —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 · IMP · SCM, en GT et MT, sur deux bases (taux de vente / taux revu) — exactement les « Contribution '25 » du fichier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657600"/>
            <a:ext cx="310896" cy="310896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3630168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par format &amp; grade —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minimales par SKU pour Boutique A/B/C, Minimarket, Kiosque, Aboki, Pushcart, Table Top, Porridge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4224528"/>
            <a:ext cx="310896" cy="310896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197096"/>
            <a:ext cx="7726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de visibilité —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PLV requis par niveau pour les 6 formats (Boutique, Superette/MT, Table Top, Pushcart, Porridge, Kiosque &amp; Aboki) — 228 règles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admin — pilotage (1/3)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écrans de pilotage quotidien du réseau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qu'on y trouve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d'ensemble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globaux : % Perfect Store, couverture, visites · santé des 4 piliers (dispo, assortiment, visibilité, promo) · dispo par catégorie produit · activité des commerciaux · exports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Synthèse réseau : % de magasins conformes, score moyen, 6 KPI piliers · tableau par type de PDV · classement des magasins par niveau FLAGSHIP / VIP / CORE / BASIC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Visites &amp; résultats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Toutes les visites avec leur niveau et score Perfect Store, produits relevés, GPS, photos · filtres date / commercial · export CSV · + évolution, répartition par catégorie, performance par commercial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commerciaux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 temps réel des tournées : km, durée, PDV visités, alertes par commercial · rejeu animé d'une tournée · recherche « où était-il à telle heure » + PDV alentours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 des PDV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 interactive de tout le parc : filtres par zone, fiches et photos en popup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admin — analyses (2/3)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écrans d'analyse par dimension métier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qu'on y trouve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 (7 écrans)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Disponibilité &amp; prix par catégorie (EVAP, IMP, SCM, UHT, YAOURT, CÉRÉALES) · inventaire SKU : ruptures, stocks bas, % dispo par référence · récapitulatif global · gestion des seuils de stock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Visibilité (7 écrans)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Synthèse PLV intérieure / extérieure · détail intérieure + évolution dans le temps · récaps par canal GT et MT · récap extérieure · récap promotions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Concurrence (3 écrans)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Présence des concurrents (Nido, Laity, Candia…) par zone et type de PDV · évolution et récap de leur visibilité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PDV (3 écrans)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complète du parc : création / édition avec territoire, area et distributeur · répartition par canal / zone / région · évolution des ajouts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admin — paramètres (3/3)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back-office : tout est réglable sans développeur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qu'on y trouve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 Perfect 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Seuils des niveaux (dispo / assortiment / visibilité / promo), standards d'assortiment, taux cibles GT &amp; MT — éditable + bouton de recalcul global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Référentiels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sur la géographie (divisions → areas), les distributeurs, les types de PDV et la config des niveaux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Utilisateurs &amp; permissions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Comptes, rôles (admin / superviseur / merchandiser / commercial), zones assignées · matrice de droits par section (RBAC)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&amp; 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Assignation des tournées PDV par commercial et par jour · suivi des actions commerciales (PLV, promo, formation)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/ Export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CSV (PDV, visites, zones, routing) · exports Excel avec plage de 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mobile — le terrain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APK Android (Capacitor) · fonctionne hors-ligne avec synchronisation automatique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qu'on y trouve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Aujourd'hui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Progression du jour (visites faites / objectif), démarrage automatique de la tournée GPS, recherche PDV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 tournée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PDV du jour dans l'ordre, statuts (fait / en cours / à venir), distance et navigation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triée par proximité avec filtres · fiche détail (canal, catégorie, zone, GPS) · création rapide d'un PDV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Nouvelle visite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 pas-à-pas : quantités par SKU (EVAP, IMP, SCM, UHT, YAOURT), prix respectés, éléments de visibilité, concurrence, photos — validation geofence GPS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 aussi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Consultation d'une visite · calendrier mensuel des visites · contacts (appel direct) · carte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à jour du fichier — 9 juillet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« BIG FIVE KPI » a été révisé : seule la partie Modern Trade (supermarchés) change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3429000"/>
          </a:xfrm>
          <a:prstGeom prst="roundRect">
            <a:avLst>
              <a:gd name="adj" fmla="val 1867"/>
            </a:avLst>
          </a:prstGeom>
          <a:solidFill>
            <a:srgbClr val="F0F7F2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17320"/>
            <a:ext cx="365760" cy="36576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444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appliqué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196596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poids MT « taux de vente » : EVAP (6 SKU) et IMP (7 SKU) mis à jour en base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catégorie somme bien à 100 %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 de tout l'historique de scores inclus dans la migration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d'exécution et fichier combiné mis à jour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3977640" cy="3429000"/>
          </a:xfrm>
          <a:prstGeom prst="roundRect">
            <a:avLst>
              <a:gd name="adj" fmla="val 1867"/>
            </a:avLst>
          </a:prstGeom>
          <a:solidFill>
            <a:srgbClr val="EEF1FA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417320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99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444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Vérifié inchangé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65192" y="196596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poids GT (commerce traditionnel)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poids « taux revu » (GT et MT)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Territoires, areas, distributeurs, types de PDV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Quantités minimales GT, niveaux, standards de visibilité (228 règles re-vérifiées : 0 écart)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reste — 3 arbitrages Friesland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incomplètes ou contradictoires dans le fichier : appliquer sans réponse fausserait les scores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FDF3E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99616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en Modern Trade : 2 → 4 SKU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34440" y="1618488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ajoute « BR 397g » et « BRB 1kg » avec un poids, mais sans quantité minimale : le moteur les compterait « indisponibles » et pénaliserait tous les supermarchés. Question : fournir les seuils, ou rester à 2 SKU ?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57200" y="2295144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FDF3E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560320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3865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supermarchés + facings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34440" y="2679192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fournit désormais des minima et des facings par taille (Hyper / Moyen / Petit supermarché), mais l'app ne segmente pas encore les PDV MT par taille. Question : quelle règle de classement des supermarchés ?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57200" y="3355848"/>
            <a:ext cx="8229600" cy="932688"/>
          </a:xfrm>
          <a:prstGeom prst="roundRect">
            <a:avLst>
              <a:gd name="adj" fmla="val 5882"/>
            </a:avLst>
          </a:prstGeom>
          <a:solidFill>
            <a:srgbClr val="FDF3E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621024"/>
            <a:ext cx="402336" cy="40233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distributeurs divergent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34440" y="3739896"/>
            <a:ext cx="7269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colonne « dist » du fichier contredit l'onglet Mapping (référence actuelle) : « LKA SERVICES » apparaît sur 4 territoires, quelques réaffectations. Question : quelle source fait foi ?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457200" y="44897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documenté, données prêtes, dans </a:t>
            </a:r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supabase/nouveau/MAJ_2026-07-09_A_ARBITRER.md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application rapide dès réponse.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B0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291840"/>
            <a:ext cx="3840480" cy="3840480"/>
          </a:xfrm>
          <a:prstGeom prst="ellipse">
            <a:avLst/>
          </a:prstGeom>
          <a:solidFill>
            <a:srgbClr val="990011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projet est prêt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standard Perfect Store du fichier est implémenté de bout en bout : collecte mobile, moteur de calcul conforme, référentiels chargés, dashboards de pilotage.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225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28600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les migrations — </a:t>
            </a:r>
            <a:pPr indent="0" marL="0">
              <a:buNone/>
            </a:pPr>
            <a:r>
              <a:rPr lang="en-US" sz="1250" dirty="0">
                <a:solidFill>
                  <a:srgbClr val="E8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 supabase/nouveau/TOUT_COMBINE.sql dans l'éditeur SQL Supabase (idempotent, inclut la mise à jour MT du 09/07). Sans ça, rien n'est actif en production.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2724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309067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arbitrer les 3 points — </a:t>
            </a:r>
            <a:pPr indent="0" marL="0">
              <a:buNone/>
            </a:pPr>
            <a:r>
              <a:rPr lang="en-US" sz="1250" dirty="0">
                <a:solidFill>
                  <a:srgbClr val="E8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MAJ_2026-07-09_A_ARBITRER.md à Friesland : seuils SCM MT, segmentation supermarchés, source du mapping distributeurs.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895344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la branche — </a:t>
            </a:r>
            <a:pPr indent="0" marL="0">
              <a:buNone/>
            </a:pPr>
            <a:r>
              <a:rPr lang="en-US" sz="1250" dirty="0">
                <a:solidFill>
                  <a:srgbClr val="E8C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Pousser feat/perfect-store-sheet-update (2 commits : maj poids MT + note d'arbitrage) et ouvrir la PR.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Perfect Store — État d'implémentation</dc:title>
  <dc:subject>PptxGenJS Presentation</dc:subject>
  <dc:creator>Friesland / Big Five</dc:creator>
  <cp:lastModifiedBy>Friesland / Big Five</cp:lastModifiedBy>
  <cp:revision>1</cp:revision>
  <dcterms:created xsi:type="dcterms:W3CDTF">2026-07-09T19:50:50Z</dcterms:created>
  <dcterms:modified xsi:type="dcterms:W3CDTF">2026-07-09T19:50:50Z</dcterms:modified>
</cp:coreProperties>
</file>